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Outfit Light"/>
      <p:regular r:id="rId201321"/>
    </p:embeddedFont>
    <p:embeddedFont>
      <p:font typeface="Outfit Thin"/>
      <p:regular r:id="rId201322"/>
    </p:embeddedFont>
    <p:embeddedFont>
      <p:font typeface="Outfit ExtraLight"/>
      <p:regular r:id="rId201323"/>
    </p:embeddedFont>
    <p:embeddedFont>
      <p:font typeface="Outfit"/>
      <p:regular r:id="rId201324"/>
    </p:embeddedFont>
    <p:embeddedFont>
      <p:font typeface="Outfit Medium"/>
      <p:regular r:id="rId201325"/>
    </p:embeddedFont>
    <p:embeddedFont>
      <p:font typeface="Outfit SemiBold"/>
      <p:regular r:id="rId201326"/>
    </p:embeddedFont>
    <p:embeddedFont>
      <p:font typeface="Outfit Bold"/>
      <p:regular r:id="rId201327"/>
    </p:embeddedFont>
    <p:embeddedFont>
      <p:font typeface="Outfit ExtraBold"/>
      <p:regular r:id="rId201328"/>
    </p:embeddedFont>
    <p:embeddedFont>
      <p:font typeface="Outfit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6.png"/><Relationship Id="rId9" Type="http://schemas.openxmlformats.org/officeDocument/2006/relationships/image" Target="../media/image-7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Predictive Analytics for Customer Behavior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Churn Prediction using Machine Learning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Rohith Kumar K M · B.E. Electronics &amp; Communication Engineering · Don Bosco Institute of Technology, Bengaluru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35856"/>
            <a:ext cx="1327175" cy="266402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78347"/>
            <a:ext cx="16142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5896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Why Predict Churn?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1455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retention is a major challenge for service-based industries. Acquiring a new customer costs significantly more than retaining an existing one. Businesses often lose valuable customers because they fail to recognize early warning signs.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727647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2640" y="28741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3180680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churn directly impacts company revenue and long-term profitability.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727647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7122" y="28741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7122" y="3180680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 predictive analytics solution to identify at-risk customers before they leave.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727647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1605" y="28741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Goal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1605" y="3180680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 organizations to take proactive retention measures using machine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374"/>
            <a:ext cx="605805" cy="197644"/>
          </a:xfrm>
          <a:prstGeom prst="roundRect">
            <a:avLst>
              <a:gd name="adj" fmla="val 41154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63835" y="456233"/>
            <a:ext cx="927571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CHAPTER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5596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Project Objectives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95512"/>
            <a:ext cx="2673921" cy="2673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50431" y="1245096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50431" y="1422722"/>
            <a:ext cx="5202138" cy="14288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8" name="Text 5"/>
          <p:cNvSpPr/>
          <p:nvPr/>
        </p:nvSpPr>
        <p:spPr>
          <a:xfrm>
            <a:off x="3450431" y="1507778"/>
            <a:ext cx="198380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Understand Customer Behavior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50431" y="177425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 exploratory data analysis (EDA) and clean/preprocess customer data.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50431" y="2111276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50431" y="2288902"/>
            <a:ext cx="5202138" cy="14288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2" name="Text 9"/>
          <p:cNvSpPr/>
          <p:nvPr/>
        </p:nvSpPr>
        <p:spPr>
          <a:xfrm>
            <a:off x="3450431" y="237395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Identify Churn Factors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50431" y="264043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 feature engineering to isolate the most influential variables.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50431" y="297745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50431" y="3155082"/>
            <a:ext cx="5202138" cy="14288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6" name="Text 13"/>
          <p:cNvSpPr/>
          <p:nvPr/>
        </p:nvSpPr>
        <p:spPr>
          <a:xfrm>
            <a:off x="3450431" y="3240137"/>
            <a:ext cx="174493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Build &amp; Compare ML Models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50431" y="350661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multiple classifiers and select the best-performing model.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50431" y="384363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450431" y="4021262"/>
            <a:ext cx="5202138" cy="14288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20" name="Text 17"/>
          <p:cNvSpPr/>
          <p:nvPr/>
        </p:nvSpPr>
        <p:spPr>
          <a:xfrm>
            <a:off x="3450431" y="4106317"/>
            <a:ext cx="15189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Drive Business Decisions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50431" y="437279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 data-driven recommendations to improve customer retention.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37853"/>
            <a:ext cx="760140" cy="266402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80343"/>
            <a:ext cx="10472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CHAPTER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6095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873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7043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909637" y="27323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Records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03884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Unique customers in the IBM Telco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2433" y="20873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33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3685952" y="27323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Original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433" y="303884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Attributes covering demographics, services, and billing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48747" y="20873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26.5%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462266" y="27323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Overall Churn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8747" y="303884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Approximately 1,900 of 7,043 customers churned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365194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include customer demographics, service subscriptions, contract information, billing details, Customer Lifetime Value (CLTV), and the target variable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Churn Value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5639"/>
            <a:ext cx="760140" cy="266402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28129"/>
            <a:ext cx="10472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CHAPTER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0874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Tools &amp; Technologies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64332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16129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Python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6816" y="1919511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programming language for all data processing and modeling tasks.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64332"/>
            <a:ext cx="283518" cy="283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1250" y="1612999"/>
            <a:ext cx="22624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Jupyter Notebook &amp; VS Code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21250" y="1919511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 environments for interactive analysis and coding.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56656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6816" y="27053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Pandas &amp; NumPy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56816" y="3011835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manipulation and numerical computing libraries.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656656"/>
            <a:ext cx="283518" cy="283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21250" y="27053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Matplotlib &amp; Seaborn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21250" y="3011835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Statistical visualization for EDA charts, histograms, and heatmaps.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48980"/>
            <a:ext cx="283518" cy="283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6816" y="37976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956816" y="4104159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 library for model training and evaluation.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748980"/>
            <a:ext cx="283518" cy="28351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1250" y="37976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GitHub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5121250" y="4104159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 for project code and collaboration.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79809" cy="110430"/>
          </a:xfrm>
          <a:prstGeom prst="roundRect">
            <a:avLst>
              <a:gd name="adj" fmla="val 46216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52029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CHAPTER 6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Project Methodology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9012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94362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end-to-end pipeline moves from raw IBM Telco data through cleaning, exploration, feature engineering, and model training, culminating in actionable business recommendations for customer retention.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002"/>
            <a:ext cx="908075" cy="260821"/>
          </a:xfrm>
          <a:prstGeom prst="roundRect">
            <a:avLst>
              <a:gd name="adj" fmla="val 38524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463823"/>
            <a:ext cx="119784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 · 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7741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EDA Findings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34344"/>
            <a:ext cx="3905696" cy="281128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6947" y="1534344"/>
            <a:ext cx="1884164" cy="13369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1724" y="1692920"/>
            <a:ext cx="14908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Contract Type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81724" y="2048321"/>
            <a:ext cx="149081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Month-to-month contracts show the highest churn rate.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8480" y="1534344"/>
            <a:ext cx="1884164" cy="13369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3256" y="1692920"/>
            <a:ext cx="14908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Internet Service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003256" y="2048321"/>
            <a:ext cx="149081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Fiber optic users churn more frequently than DSL users.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6947" y="3008635"/>
            <a:ext cx="1884164" cy="15583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81724" y="3167211"/>
            <a:ext cx="14908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Payment Method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81724" y="3522613"/>
            <a:ext cx="149081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Electronic check customers have a higher churn rate.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8480" y="3008635"/>
            <a:ext cx="1884164" cy="155837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03256" y="3167211"/>
            <a:ext cx="14908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Tenure &amp; CLTV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003256" y="3522613"/>
            <a:ext cx="14908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Longer tenure and higher Customer Lifetime Value correlate with lower churn.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35856"/>
            <a:ext cx="1954337" cy="266402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78347"/>
            <a:ext cx="22414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 · PREDICTIVE MODELING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58962"/>
            <a:ext cx="4470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Machine Learning Models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114550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640" y="22610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567583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Splits data into subsets using decision nodes. Good interpretability but lower accuracy.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114550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7122" y="22610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7122" y="256758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Predicts probability of churn. Strong baseline with competitive accuracy.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114550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1605" y="22610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1605" y="2567583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Ensemble of multiple decision trees. Reduces overfitting via majority voting.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355401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split: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80% training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(5,625 × 19)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20% testing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(1,407 × 19). Categorical variables encoded; irrelevant columns removed.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16595" cy="110430"/>
          </a:xfrm>
          <a:prstGeom prst="roundRect">
            <a:avLst>
              <a:gd name="adj" fmla="val 46216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988814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EVALUATION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30189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 Performance Comparison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8824"/>
            <a:ext cx="3989412" cy="28715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232" y="828824"/>
            <a:ext cx="1976958" cy="481757"/>
          </a:xfrm>
          <a:prstGeom prst="roundRect">
            <a:avLst>
              <a:gd name="adj" fmla="val 132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8890" dir="2700000">
              <a:srgbClr val="b5c1e2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43599" y="909191"/>
            <a:ext cx="1014115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Random Forest — Best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743599" y="1060103"/>
            <a:ext cx="1816224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80.60% accuracy with best generalization on unseen data.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6675611" y="828824"/>
            <a:ext cx="1977033" cy="481757"/>
          </a:xfrm>
          <a:prstGeom prst="roundRect">
            <a:avLst>
              <a:gd name="adj" fmla="val 132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8890" dir="2700000">
              <a:srgbClr val="b5c1e2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55978" y="909191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Logistic Regression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755978" y="1055340"/>
            <a:ext cx="181629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80.31% accuracy. Strong baseline with good interpretability.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4663232" y="1346002"/>
            <a:ext cx="3989412" cy="391939"/>
          </a:xfrm>
          <a:prstGeom prst="roundRect">
            <a:avLst>
              <a:gd name="adj" fmla="val 1627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8890" dir="2700000">
              <a:srgbClr val="b5c1e2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43599" y="142636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Decision Tree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743599" y="1572518"/>
            <a:ext cx="38286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77.33% accuracy. Interpretable but lower predictive performance.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96119" y="3793331"/>
            <a:ext cx="207659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Feature Importance (Random Forest)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96119" y="3957191"/>
            <a:ext cx="8151763" cy="855315"/>
          </a:xfrm>
          <a:prstGeom prst="roundRect">
            <a:avLst>
              <a:gd name="adj" fmla="val 745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723" y="3987924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Feature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642842" y="3987924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Importance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571723" y="4129683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Tenure Months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642842" y="4129683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0.1003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571723" y="4271442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Charges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4642842" y="4271442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0.0945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71723" y="4413200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Charges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4642842" y="4413200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0.0882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571723" y="4554959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 Type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4642842" y="4554959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0.0728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571723" y="4696718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CLTV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4642842" y="4696718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0.0669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31081"/>
            <a:ext cx="851892" cy="207690"/>
          </a:xfrm>
          <a:prstGeom prst="roundRect">
            <a:avLst>
              <a:gd name="adj" fmla="val 40700"/>
            </a:avLst>
          </a:prstGeom>
          <a:solidFill>
            <a:srgbClr val="CFDBFC"/>
          </a:solidFill>
          <a:ln/>
        </p:spPr>
      </p:sp>
      <p:sp>
        <p:nvSpPr>
          <p:cNvPr id="4" name="Text 1"/>
          <p:cNvSpPr/>
          <p:nvPr/>
        </p:nvSpPr>
        <p:spPr>
          <a:xfrm>
            <a:off x="566514" y="466279"/>
            <a:ext cx="1168301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CHAPTER 9 &amp; 10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677614"/>
            <a:ext cx="4601691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Recommendations &amp; Conclusion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96119" y="1190253"/>
            <a:ext cx="2312789" cy="1450330"/>
          </a:xfrm>
          <a:prstGeom prst="roundRect">
            <a:avLst>
              <a:gd name="adj" fmla="val 728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5240" dir="2700000">
              <a:srgbClr val="b5c1e2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8232" y="1312366"/>
            <a:ext cx="352202" cy="352202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119" y="1409179"/>
            <a:ext cx="158428" cy="1584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232" y="176175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Retention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18232" y="2003450"/>
            <a:ext cx="2068562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month-to-month customers; encourage long-term contracts; improve support quality.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906092" y="1190253"/>
            <a:ext cx="2312789" cy="1450330"/>
          </a:xfrm>
          <a:prstGeom prst="roundRect">
            <a:avLst>
              <a:gd name="adj" fmla="val 728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5240" dir="2700000">
              <a:srgbClr val="b5c1e2">
                <a:alpha val="10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028206" y="1312366"/>
            <a:ext cx="352202" cy="352202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5093" y="1409179"/>
            <a:ext cx="158428" cy="1584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28206" y="1761753"/>
            <a:ext cx="15304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Personalized Marketing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028206" y="2003450"/>
            <a:ext cx="2068562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Special offers for new customers; loyalty rewards for high-value segments.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96119" y="2737768"/>
            <a:ext cx="4722763" cy="1106984"/>
          </a:xfrm>
          <a:prstGeom prst="roundRect">
            <a:avLst>
              <a:gd name="adj" fmla="val 954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5240" dir="2700000">
              <a:srgbClr val="b5c1e2">
                <a:alpha val="10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8232" y="2859881"/>
            <a:ext cx="352202" cy="352202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119" y="2956694"/>
            <a:ext cx="158428" cy="1584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232" y="3309268"/>
            <a:ext cx="1510754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Engagement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18232" y="3550965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 high-risk customers monthly; improve service quality and interaction.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96119" y="3954066"/>
            <a:ext cx="4722763" cy="758279"/>
          </a:xfrm>
          <a:prstGeom prst="roundRect">
            <a:avLst>
              <a:gd name="adj" fmla="val 13934"/>
            </a:avLst>
          </a:prstGeom>
          <a:solidFill>
            <a:srgbClr val="B6FCB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470" y="4112344"/>
            <a:ext cx="146745" cy="1173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7565" y="4080570"/>
            <a:ext cx="4223965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Random Forest achieved 80.60% accuracy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identifying tenure, monthly charges, contract type, and CLTV as the strongest churn predictors — enabling data-driven retention strategies.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2026-07-06T13:41:15Z</dcterms:created>
  <dcterms:modified xsi:type="dcterms:W3CDTF">2026-07-06T13:41:15Z</dcterms:modified>
</cp:coreProperties>
</file>